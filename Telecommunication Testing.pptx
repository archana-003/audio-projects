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a1b8f11b22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a1b8f11b22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3a186533b05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3a186533b05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a186533b05_0_2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a186533b05_0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a186533b05_0_3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a186533b05_0_3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186533b05_0_3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a186533b05_0_3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186533b05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a186533b05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a18d7cb2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a18d7cb2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18d7cb236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18d7cb236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18d7cb23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a18d7cb23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a1b8f11b22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a1b8f11b22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www.google.com/search?client=ubuntu&amp;sca_esv=f3fadf7a9157dba4&amp;channel=fs&amp;sxsrf=AE3TifMQd_nDQ2pfHHL8ouS6hJmYJx1ziA%3A1762602220171&amp;q=ITU-T&amp;source=lnms&amp;fbs=AIIjpHz30rPMyW-0vSP0k1VTNmO_kCOARpjPjQRkBWH2HwUIz5XUSIJvSK0oms7XOxizDlkK5H4ZDQTVmmg2UXG6KcRU_Gy9sqJmt9Qzcc_5Zr9ytlqfenNPRP4fqcs-B1w84X0YvlXT7NlAwWQ9XFdY2YrbXhjBK9H7q3vw9PtyUKzDYh3tJ9oTghSNjq0-muM0EEFWvVAsCJbegtKT3XCgIUBeVlnk_QU3epID5IkHBYzAkmMhZXs&amp;sa=X&amp;ved=2ahUKEwjUsM79vOKQAxUVzjgGHapuOwMQgK4QegQIARAC&amp;biw=1848&amp;bih=968&amp;dpr=1&amp;mstk=AUtExfARE2hG4cYEWXhNT9X_5mfjS8LdCr1n3qkg0IFjZD1ln8yYtsFwh5tsG0wVXuC1m-TT7966gILxhTOKEexx7laXjH6etYCRXd_yfehqoPLLIcK9wZ5dd3rvXGRaDMYME0XXkhXe_j9JdxWvVr7IyqnLOJ93HMe7FndHMT-NHlRGPO_L4lTMVR0Ll9tUVFD05AqFBNSzatFxFMMGo8fMN5zyG0htYvHSCxnZ1glIPSiwiUbDDL_l-SeTQWF4vxQ15ktevRPIZmVWy4Y8Nlp7-ahhErVunQoICvPMn-NS9M-QyA&amp;csui=3" TargetMode="External"/><Relationship Id="rId4" Type="http://schemas.openxmlformats.org/officeDocument/2006/relationships/hyperlink" Target="https://www.google.com/search?client=ubuntu&amp;sca_esv=f3fadf7a9157dba4&amp;channel=fs&amp;sxsrf=AE3TifMQd_nDQ2pfHHL8ouS6hJmYJx1ziA%3A1762602220171&amp;q=ITU-T&amp;source=lnms&amp;fbs=AIIjpHz30rPMyW-0vSP0k1VTNmO_kCOARpjPjQRkBWH2HwUIz5XUSIJvSK0oms7XOxizDlkK5H4ZDQTVmmg2UXG6KcRU_Gy9sqJmt9Qzcc_5Zr9ytlqfenNPRP4fqcs-B1w84X0YvlXT7NlAwWQ9XFdY2YrbXhjBK9H7q3vw9PtyUKzDYh3tJ9oTghSNjq0-muM0EEFWvVAsCJbegtKT3XCgIUBeVlnk_QU3epID5IkHBYzAkmMhZXs&amp;sa=X&amp;ved=2ahUKEwjUsM79vOKQAxUVzjgGHapuOwMQgK4QegQIARAC&amp;biw=1848&amp;bih=968&amp;dpr=1&amp;mstk=AUtExfARE2hG4cYEWXhNT9X_5mfjS8LdCr1n3qkg0IFjZD1ln8yYtsFwh5tsG0wVXuC1m-TT7966gILxhTOKEexx7laXjH6etYCRXd_yfehqoPLLIcK9wZ5dd3rvXGRaDMYME0XXkhXe_j9JdxWvVr7IyqnLOJ93HMe7FndHMT-NHlRGPO_L4lTMVR0Ll9tUVFD05AqFBNSzatFxFMMGo8fMN5zyG0htYvHSCxnZ1glIPSiwiUbDDL_l-SeTQWF4vxQ15ktevRPIZmVWy4Y8Nlp7-ahhErVunQoICvPMn-NS9M-QyA&amp;csui=3" TargetMode="Externa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TELECOMMUNICATION TESTING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4"/>
          <p:cNvSpPr txBox="1"/>
          <p:nvPr/>
        </p:nvSpPr>
        <p:spPr>
          <a:xfrm>
            <a:off x="3481400" y="1781874"/>
            <a:ext cx="4312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60" name="Google Shape;60;p14"/>
          <p:cNvSpPr txBox="1"/>
          <p:nvPr/>
        </p:nvSpPr>
        <p:spPr>
          <a:xfrm>
            <a:off x="980775" y="217125"/>
            <a:ext cx="4656900" cy="2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Example : SCM Microphone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61" name="Google Shape;61;p14" title="WhatsApp Image 2025-11-07 at 22.04.1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26950" y="1091000"/>
            <a:ext cx="2070425" cy="3680749"/>
          </a:xfrm>
          <a:prstGeom prst="rect">
            <a:avLst/>
          </a:prstGeom>
          <a:noFill/>
          <a:ln>
            <a:noFill/>
          </a:ln>
        </p:spPr>
      </p:pic>
      <p:sp>
        <p:nvSpPr>
          <p:cNvPr id="62" name="Google Shape;62;p14"/>
          <p:cNvSpPr txBox="1"/>
          <p:nvPr/>
        </p:nvSpPr>
        <p:spPr>
          <a:xfrm>
            <a:off x="4140250" y="1265275"/>
            <a:ext cx="3840900" cy="53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Inside Head L,R Microphone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2"/>
                </a:solidFill>
              </a:rPr>
              <a:t>Speaker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5" title="WhatsApp Image 2025-11-07 at 22.04.11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950" y="694200"/>
            <a:ext cx="2070425" cy="3680749"/>
          </a:xfrm>
          <a:prstGeom prst="rect">
            <a:avLst/>
          </a:prstGeom>
          <a:noFill/>
          <a:ln>
            <a:noFill/>
          </a:ln>
        </p:spPr>
      </p:pic>
      <p:pic>
        <p:nvPicPr>
          <p:cNvPr id="68" name="Google Shape;68;p15" title="labcore.jp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4825" y="870375"/>
            <a:ext cx="3442300" cy="229419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69" name="Google Shape;69;p15"/>
          <p:cNvCxnSpPr/>
          <p:nvPr/>
        </p:nvCxnSpPr>
        <p:spPr>
          <a:xfrm flipH="1" rot="10800000">
            <a:off x="2680050" y="1940250"/>
            <a:ext cx="1732200" cy="832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0" name="Google Shape;70;p15"/>
          <p:cNvCxnSpPr/>
          <p:nvPr/>
        </p:nvCxnSpPr>
        <p:spPr>
          <a:xfrm flipH="1" rot="10800000">
            <a:off x="2680050" y="1854775"/>
            <a:ext cx="1732200" cy="832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1" name="Google Shape;71;p15"/>
          <p:cNvCxnSpPr/>
          <p:nvPr/>
        </p:nvCxnSpPr>
        <p:spPr>
          <a:xfrm flipH="1" rot="10800000">
            <a:off x="2728375" y="2066650"/>
            <a:ext cx="1732200" cy="832200"/>
          </a:xfrm>
          <a:prstGeom prst="bentConnector3">
            <a:avLst>
              <a:gd fmla="val 500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/>
        </p:nvSpPr>
        <p:spPr>
          <a:xfrm>
            <a:off x="408875" y="617025"/>
            <a:ext cx="25944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Frequency Response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77" name="Google Shape;77;p16" title="2b33b1f8935967b3ac2240d5b5d069f8c81cf8b7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45925" y="1494975"/>
            <a:ext cx="6523474" cy="2626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/>
        </p:nvSpPr>
        <p:spPr>
          <a:xfrm>
            <a:off x="408875" y="617025"/>
            <a:ext cx="40887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2"/>
                </a:solidFill>
              </a:rPr>
              <a:t>Send Frequency Response(SFR)</a:t>
            </a:r>
            <a:endParaRPr b="1" sz="1900">
              <a:solidFill>
                <a:schemeClr val="dk2"/>
              </a:solidFill>
            </a:endParaRPr>
          </a:p>
        </p:txBody>
      </p:sp>
      <p:sp>
        <p:nvSpPr>
          <p:cNvPr id="83" name="Google Shape;83;p17"/>
          <p:cNvSpPr txBox="1"/>
          <p:nvPr/>
        </p:nvSpPr>
        <p:spPr>
          <a:xfrm>
            <a:off x="546400" y="2412350"/>
            <a:ext cx="4174200" cy="49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800">
                <a:solidFill>
                  <a:schemeClr val="dk2"/>
                </a:solidFill>
              </a:rPr>
              <a:t>Receive</a:t>
            </a:r>
            <a:r>
              <a:rPr b="1" lang="en-GB" sz="1800">
                <a:solidFill>
                  <a:schemeClr val="dk2"/>
                </a:solidFill>
              </a:rPr>
              <a:t> </a:t>
            </a:r>
            <a:r>
              <a:rPr b="1" lang="en-GB" sz="1800">
                <a:solidFill>
                  <a:schemeClr val="dk2"/>
                </a:solidFill>
              </a:rPr>
              <a:t>Frequency Response(RFR)</a:t>
            </a:r>
            <a:endParaRPr b="1" sz="1800">
              <a:solidFill>
                <a:schemeClr val="dk2"/>
              </a:solidFill>
            </a:endParaRPr>
          </a:p>
        </p:txBody>
      </p:sp>
      <p:sp>
        <p:nvSpPr>
          <p:cNvPr id="84" name="Google Shape;84;p17"/>
          <p:cNvSpPr txBox="1"/>
          <p:nvPr/>
        </p:nvSpPr>
        <p:spPr>
          <a:xfrm>
            <a:off x="624475" y="1395788"/>
            <a:ext cx="74340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2"/>
                </a:solidFill>
              </a:rPr>
              <a:t>Mouth(Speaker) →Microphone(DUT) →Analyse(Frequency response)</a:t>
            </a:r>
            <a:endParaRPr sz="1700">
              <a:solidFill>
                <a:schemeClr val="dk2"/>
              </a:solidFill>
            </a:endParaRPr>
          </a:p>
        </p:txBody>
      </p:sp>
      <p:sp>
        <p:nvSpPr>
          <p:cNvPr id="85" name="Google Shape;85;p17"/>
          <p:cNvSpPr txBox="1"/>
          <p:nvPr/>
        </p:nvSpPr>
        <p:spPr>
          <a:xfrm>
            <a:off x="459750" y="3190650"/>
            <a:ext cx="87426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2"/>
                </a:solidFill>
              </a:rPr>
              <a:t>DUT</a:t>
            </a:r>
            <a:r>
              <a:rPr lang="en-GB" sz="1700">
                <a:solidFill>
                  <a:schemeClr val="dk2"/>
                </a:solidFill>
              </a:rPr>
              <a:t>(Speaker) →</a:t>
            </a:r>
            <a:r>
              <a:rPr lang="en-GB" sz="1600">
                <a:solidFill>
                  <a:schemeClr val="dk2"/>
                </a:solidFill>
              </a:rPr>
              <a:t>Microphone(Head Simulator L,R MIC </a:t>
            </a:r>
            <a:r>
              <a:rPr lang="en-GB" sz="1600">
                <a:solidFill>
                  <a:schemeClr val="dk2"/>
                </a:solidFill>
              </a:rPr>
              <a:t>) </a:t>
            </a:r>
            <a:r>
              <a:rPr lang="en-GB" sz="1700">
                <a:solidFill>
                  <a:schemeClr val="dk2"/>
                </a:solidFill>
              </a:rPr>
              <a:t>→Analyse(Frequency response)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/>
        </p:nvSpPr>
        <p:spPr>
          <a:xfrm>
            <a:off x="230425" y="260200"/>
            <a:ext cx="45498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900">
                <a:solidFill>
                  <a:schemeClr val="dk2"/>
                </a:solidFill>
              </a:rPr>
              <a:t>Total Harmonic </a:t>
            </a:r>
            <a:r>
              <a:rPr b="1" lang="en-GB" sz="1900">
                <a:solidFill>
                  <a:schemeClr val="dk2"/>
                </a:solidFill>
              </a:rPr>
              <a:t>Distortion(THD)</a:t>
            </a:r>
            <a:endParaRPr b="1" sz="1900">
              <a:solidFill>
                <a:schemeClr val="dk2"/>
              </a:solidFill>
            </a:endParaRPr>
          </a:p>
        </p:txBody>
      </p:sp>
      <p:pic>
        <p:nvPicPr>
          <p:cNvPr id="91" name="Google Shape;91;p18" title="SystemUnderTest1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18875" y="885950"/>
            <a:ext cx="4270925" cy="30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/>
          <p:nvPr/>
        </p:nvSpPr>
        <p:spPr>
          <a:xfrm>
            <a:off x="453500" y="1702400"/>
            <a:ext cx="3702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</a:t>
            </a:r>
            <a:r>
              <a:rPr lang="en-GB"/>
              <a:t>hen a system's waveform is altered by adding higher-frequency signals called harmonics, which are integer multiples of the fundamental frequency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/>
        </p:nvSpPr>
        <p:spPr>
          <a:xfrm>
            <a:off x="1709850" y="1107700"/>
            <a:ext cx="42822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8" name="Google Shape;98;p19" title="Untitled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2438" y="788100"/>
            <a:ext cx="7177674" cy="2826200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9"/>
          <p:cNvSpPr txBox="1"/>
          <p:nvPr/>
        </p:nvSpPr>
        <p:spPr>
          <a:xfrm>
            <a:off x="929275" y="237900"/>
            <a:ext cx="6333900" cy="5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POLQA - Perceptual Objective Listening Quality Analysis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0" name="Google Shape;100;p19"/>
          <p:cNvSpPr txBox="1"/>
          <p:nvPr/>
        </p:nvSpPr>
        <p:spPr>
          <a:xfrm>
            <a:off x="1063075" y="3734725"/>
            <a:ext cx="7523400" cy="51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ACQUA →(</a:t>
            </a:r>
            <a:r>
              <a:rPr lang="en-GB" sz="1800">
                <a:solidFill>
                  <a:schemeClr val="dk2"/>
                </a:solidFill>
              </a:rPr>
              <a:t>ACQUA Ref signal-speaker) → headphone(microphone)→ ACQUA(POLQA) →MOS(Mean opinion score)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/>
        </p:nvSpPr>
        <p:spPr>
          <a:xfrm>
            <a:off x="539050" y="613925"/>
            <a:ext cx="7449600" cy="8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SLR, RLR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6" name="Google Shape;106;p20"/>
          <p:cNvSpPr txBox="1"/>
          <p:nvPr/>
        </p:nvSpPr>
        <p:spPr>
          <a:xfrm>
            <a:off x="920875" y="1160450"/>
            <a:ext cx="7000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In audio, SLR (Send Loudness Rating) and RLR (Receive Loudness Rating) are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chemeClr val="dk1"/>
                </a:solidFill>
              </a:rPr>
              <a:t>metrics defined by the</a:t>
            </a:r>
            <a:r>
              <a:rPr lang="en-GB" sz="1100">
                <a:solidFill>
                  <a:schemeClr val="dk1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r>
              <a:rPr lang="en-GB" sz="1100" u="sng">
                <a:solidFill>
                  <a:schemeClr val="hlink"/>
                </a:solidFill>
                <a:hlinkClick r:id="rId4"/>
              </a:rPr>
              <a:t>ITU-T</a:t>
            </a:r>
            <a:r>
              <a:rPr lang="en-GB" sz="1100">
                <a:solidFill>
                  <a:schemeClr val="dk1"/>
                </a:solidFill>
              </a:rPr>
              <a:t> to measure the loudness loss in a telephone connection. SLR measures the loudness loss from a talker's mouth to an electric interface, while RLR measures the loudness loss from that same electric interface to the listener's ear. </a:t>
            </a:r>
            <a:endParaRPr/>
          </a:p>
        </p:txBody>
      </p:sp>
      <p:sp>
        <p:nvSpPr>
          <p:cNvPr id="107" name="Google Shape;107;p20"/>
          <p:cNvSpPr txBox="1"/>
          <p:nvPr/>
        </p:nvSpPr>
        <p:spPr>
          <a:xfrm>
            <a:off x="1197900" y="2350875"/>
            <a:ext cx="69330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ACQUA →</a:t>
            </a:r>
            <a:r>
              <a:rPr lang="en-GB" sz="1800">
                <a:solidFill>
                  <a:schemeClr val="dk2"/>
                </a:solidFill>
              </a:rPr>
              <a:t>(ACQUA Ref signal-speaker) </a:t>
            </a:r>
            <a:r>
              <a:rPr lang="en-GB" sz="1800">
                <a:solidFill>
                  <a:schemeClr val="dk2"/>
                </a:solidFill>
              </a:rPr>
              <a:t>→ headphone(microphone)→ SLR(ACQUA)</a:t>
            </a:r>
            <a:br>
              <a:rPr lang="en-GB" sz="1800">
                <a:solidFill>
                  <a:schemeClr val="dk2"/>
                </a:solidFill>
              </a:rPr>
            </a:br>
            <a:br>
              <a:rPr lang="en-GB" sz="1800">
                <a:solidFill>
                  <a:schemeClr val="dk2"/>
                </a:solidFill>
              </a:rPr>
            </a:br>
            <a:r>
              <a:rPr lang="en-GB" sz="1800">
                <a:solidFill>
                  <a:schemeClr val="dk2"/>
                </a:solidFill>
              </a:rPr>
              <a:t>ACQUA →(SPEAKER) → Head &amp; Torse(microphone)→ RLR(ACQUA)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/>
        </p:nvSpPr>
        <p:spPr>
          <a:xfrm>
            <a:off x="703775" y="561525"/>
            <a:ext cx="78015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TCLw - Terminal Coupling loss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3" name="Google Shape;113;p21"/>
          <p:cNvSpPr txBox="1"/>
          <p:nvPr/>
        </p:nvSpPr>
        <p:spPr>
          <a:xfrm>
            <a:off x="703775" y="1395225"/>
            <a:ext cx="78015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It is a measurement how much of received </a:t>
            </a:r>
            <a:r>
              <a:rPr lang="en-GB" sz="1800">
                <a:solidFill>
                  <a:schemeClr val="dk2"/>
                </a:solidFill>
              </a:rPr>
              <a:t>signal</a:t>
            </a:r>
            <a:r>
              <a:rPr lang="en-GB" sz="1800">
                <a:solidFill>
                  <a:schemeClr val="dk2"/>
                </a:solidFill>
              </a:rPr>
              <a:t> leaks into the send signal.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4" name="Google Shape;114;p21"/>
          <p:cNvSpPr txBox="1"/>
          <p:nvPr/>
        </p:nvSpPr>
        <p:spPr>
          <a:xfrm>
            <a:off x="671250" y="2571750"/>
            <a:ext cx="7801500" cy="756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ACQUA(TCLw) →DUT speaker (audio)→Back to DUT Microphone.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/>
        </p:nvSpPr>
        <p:spPr>
          <a:xfrm>
            <a:off x="831050" y="823575"/>
            <a:ext cx="56076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AEC - </a:t>
            </a:r>
            <a:r>
              <a:rPr lang="en-GB" sz="2300">
                <a:solidFill>
                  <a:schemeClr val="dk1"/>
                </a:solidFill>
              </a:rPr>
              <a:t>Acoustic Echo Cancellation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20" name="Google Shape;120;p22" title="aec_block_diagra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70625" y="1642075"/>
            <a:ext cx="5715000" cy="283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3"/>
          <p:cNvSpPr txBox="1"/>
          <p:nvPr/>
        </p:nvSpPr>
        <p:spPr>
          <a:xfrm>
            <a:off x="1108050" y="3878225"/>
            <a:ext cx="5300700" cy="3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br>
              <a:rPr lang="en-GB" sz="1800">
                <a:solidFill>
                  <a:schemeClr val="dk2"/>
                </a:solidFill>
              </a:rPr>
            </a:br>
            <a:br>
              <a:rPr lang="en-GB" sz="1800">
                <a:solidFill>
                  <a:schemeClr val="dk2"/>
                </a:solidFill>
              </a:rPr>
            </a:br>
            <a:endParaRPr sz="1800">
              <a:solidFill>
                <a:schemeClr val="dk2"/>
              </a:solidFill>
            </a:endParaRPr>
          </a:p>
        </p:txBody>
      </p:sp>
      <p:pic>
        <p:nvPicPr>
          <p:cNvPr id="126" name="Google Shape;12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85100" y="414450"/>
            <a:ext cx="3026849" cy="3133349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23"/>
          <p:cNvSpPr txBox="1"/>
          <p:nvPr/>
        </p:nvSpPr>
        <p:spPr>
          <a:xfrm>
            <a:off x="583975" y="3990525"/>
            <a:ext cx="7584300" cy="61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Place DUT(94 db) →SET 94DB IN ACQUA →DUT O/P(DB) →ACQUA calibrate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28" name="Google Shape;128;p23"/>
          <p:cNvSpPr txBox="1"/>
          <p:nvPr/>
        </p:nvSpPr>
        <p:spPr>
          <a:xfrm>
            <a:off x="995750" y="202150"/>
            <a:ext cx="5442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>
                <a:solidFill>
                  <a:schemeClr val="dk2"/>
                </a:solidFill>
              </a:rPr>
              <a:t>MIC Calibration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